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8" r:id="rId3"/>
    <p:sldId id="257" r:id="rId4"/>
    <p:sldId id="258" r:id="rId5"/>
    <p:sldId id="264" r:id="rId6"/>
    <p:sldId id="265" r:id="rId7"/>
    <p:sldId id="266" r:id="rId8"/>
    <p:sldId id="267" r:id="rId9"/>
    <p:sldId id="259" r:id="rId10"/>
    <p:sldId id="260" r:id="rId11"/>
    <p:sldId id="269" r:id="rId12"/>
    <p:sldId id="261" r:id="rId13"/>
    <p:sldId id="262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meharshanali/student-dropout-prediction-dataset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meharshanali/student-dropout-prediction-dataset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1A158F-2E9C-4609-AC06-A2AC8C466FF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F8CA91BD-1C0B-4E7D-9018-F46B00C8BD2D}">
      <dgm:prSet/>
      <dgm:spPr/>
      <dgm:t>
        <a:bodyPr/>
        <a:lstStyle/>
        <a:p>
          <a:r>
            <a:rPr lang="en-US"/>
            <a:t>A widely known International College</a:t>
          </a:r>
          <a:endParaRPr lang="el-GR"/>
        </a:p>
      </dgm:t>
    </dgm:pt>
    <dgm:pt modelId="{A71EE761-E274-4C04-BD85-5F084D085841}" type="parTrans" cxnId="{A08A1902-2D87-4C6F-B347-C2084FD8954E}">
      <dgm:prSet/>
      <dgm:spPr/>
      <dgm:t>
        <a:bodyPr/>
        <a:lstStyle/>
        <a:p>
          <a:endParaRPr lang="el-GR"/>
        </a:p>
      </dgm:t>
    </dgm:pt>
    <dgm:pt modelId="{B488F35D-A619-429F-801B-CE23BBACB333}" type="sibTrans" cxnId="{A08A1902-2D87-4C6F-B347-C2084FD8954E}">
      <dgm:prSet/>
      <dgm:spPr/>
      <dgm:t>
        <a:bodyPr/>
        <a:lstStyle/>
        <a:p>
          <a:endParaRPr lang="el-GR"/>
        </a:p>
      </dgm:t>
    </dgm:pt>
    <dgm:pt modelId="{8E88B8AD-70C0-45F1-A0D5-67B9508EB00C}">
      <dgm:prSet/>
      <dgm:spPr/>
      <dgm:t>
        <a:bodyPr/>
        <a:lstStyle/>
        <a:p>
          <a:r>
            <a:rPr lang="en-US"/>
            <a:t>Departments</a:t>
          </a:r>
          <a:endParaRPr lang="el-GR"/>
        </a:p>
      </dgm:t>
    </dgm:pt>
    <dgm:pt modelId="{FD1451F4-FBFB-417E-BF7A-DF2F5AC7D244}" type="parTrans" cxnId="{7D2BD988-A572-47C8-A852-1B65A62AB2FA}">
      <dgm:prSet/>
      <dgm:spPr/>
      <dgm:t>
        <a:bodyPr/>
        <a:lstStyle/>
        <a:p>
          <a:endParaRPr lang="el-GR"/>
        </a:p>
      </dgm:t>
    </dgm:pt>
    <dgm:pt modelId="{69152BEF-E116-4160-9E50-6983A8371F99}" type="sibTrans" cxnId="{7D2BD988-A572-47C8-A852-1B65A62AB2FA}">
      <dgm:prSet/>
      <dgm:spPr/>
      <dgm:t>
        <a:bodyPr/>
        <a:lstStyle/>
        <a:p>
          <a:endParaRPr lang="el-GR"/>
        </a:p>
      </dgm:t>
    </dgm:pt>
    <dgm:pt modelId="{94B4AB1F-24C5-48C1-B0E9-9FE561E1A6BE}">
      <dgm:prSet custT="1"/>
      <dgm:spPr/>
      <dgm:t>
        <a:bodyPr/>
        <a:lstStyle/>
        <a:p>
          <a:r>
            <a:rPr lang="en-US" sz="1200"/>
            <a:t>Arts</a:t>
          </a:r>
          <a:endParaRPr lang="el-GR" sz="1200"/>
        </a:p>
      </dgm:t>
    </dgm:pt>
    <dgm:pt modelId="{D766645F-2C65-4481-89C0-B1C4218CDF74}" type="parTrans" cxnId="{881D7DCF-FB9F-4CF1-A57E-9328DBC6DC1D}">
      <dgm:prSet/>
      <dgm:spPr/>
      <dgm:t>
        <a:bodyPr/>
        <a:lstStyle/>
        <a:p>
          <a:endParaRPr lang="el-GR"/>
        </a:p>
      </dgm:t>
    </dgm:pt>
    <dgm:pt modelId="{1609E96D-2B3D-4978-AC8E-3B44688A86AC}" type="sibTrans" cxnId="{881D7DCF-FB9F-4CF1-A57E-9328DBC6DC1D}">
      <dgm:prSet/>
      <dgm:spPr/>
      <dgm:t>
        <a:bodyPr/>
        <a:lstStyle/>
        <a:p>
          <a:endParaRPr lang="el-GR"/>
        </a:p>
      </dgm:t>
    </dgm:pt>
    <dgm:pt modelId="{F9550777-166D-49EB-9CA3-D5E7BD61976D}">
      <dgm:prSet custT="1"/>
      <dgm:spPr/>
      <dgm:t>
        <a:bodyPr/>
        <a:lstStyle/>
        <a:p>
          <a:r>
            <a:rPr lang="en-US" sz="1200"/>
            <a:t>Business</a:t>
          </a:r>
          <a:endParaRPr lang="el-GR" sz="1200"/>
        </a:p>
      </dgm:t>
    </dgm:pt>
    <dgm:pt modelId="{5EB684D3-04EA-4175-A8A5-39E333C0FF35}" type="parTrans" cxnId="{22AB7104-46F6-4FCF-B4C8-4D981E79C3F8}">
      <dgm:prSet/>
      <dgm:spPr/>
      <dgm:t>
        <a:bodyPr/>
        <a:lstStyle/>
        <a:p>
          <a:endParaRPr lang="el-GR"/>
        </a:p>
      </dgm:t>
    </dgm:pt>
    <dgm:pt modelId="{23B344D6-A49B-459A-9240-C824BE1C4EAC}" type="sibTrans" cxnId="{22AB7104-46F6-4FCF-B4C8-4D981E79C3F8}">
      <dgm:prSet/>
      <dgm:spPr/>
      <dgm:t>
        <a:bodyPr/>
        <a:lstStyle/>
        <a:p>
          <a:endParaRPr lang="el-GR"/>
        </a:p>
      </dgm:t>
    </dgm:pt>
    <dgm:pt modelId="{26A1C47E-4DFE-46A4-BDDC-BD489EAF5DB3}">
      <dgm:prSet custT="1"/>
      <dgm:spPr/>
      <dgm:t>
        <a:bodyPr/>
        <a:lstStyle/>
        <a:p>
          <a:r>
            <a:rPr lang="en-US" sz="1200"/>
            <a:t>Computer Science</a:t>
          </a:r>
          <a:endParaRPr lang="el-GR" sz="1200"/>
        </a:p>
      </dgm:t>
    </dgm:pt>
    <dgm:pt modelId="{F106D331-0091-4ACA-9DAF-36CB94513BDA}" type="parTrans" cxnId="{4A88E08F-56EB-4675-966F-464C936DDE63}">
      <dgm:prSet/>
      <dgm:spPr/>
      <dgm:t>
        <a:bodyPr/>
        <a:lstStyle/>
        <a:p>
          <a:endParaRPr lang="el-GR"/>
        </a:p>
      </dgm:t>
    </dgm:pt>
    <dgm:pt modelId="{36C0231A-A5FA-4DB0-8007-9D55D91440AF}" type="sibTrans" cxnId="{4A88E08F-56EB-4675-966F-464C936DDE63}">
      <dgm:prSet/>
      <dgm:spPr/>
      <dgm:t>
        <a:bodyPr/>
        <a:lstStyle/>
        <a:p>
          <a:endParaRPr lang="el-GR"/>
        </a:p>
      </dgm:t>
    </dgm:pt>
    <dgm:pt modelId="{2329AE15-CF3E-4551-A317-29B8046FCC6B}">
      <dgm:prSet custT="1"/>
      <dgm:spPr/>
      <dgm:t>
        <a:bodyPr/>
        <a:lstStyle/>
        <a:p>
          <a:r>
            <a:rPr lang="en-US" sz="1200"/>
            <a:t>Engineering</a:t>
          </a:r>
          <a:endParaRPr lang="el-GR" sz="1200"/>
        </a:p>
      </dgm:t>
    </dgm:pt>
    <dgm:pt modelId="{C8BABC3F-5A18-4CC1-A08F-8DBDF1AEC8F7}" type="parTrans" cxnId="{331901DA-3A3B-462F-B1D8-8B83C0342769}">
      <dgm:prSet/>
      <dgm:spPr/>
      <dgm:t>
        <a:bodyPr/>
        <a:lstStyle/>
        <a:p>
          <a:endParaRPr lang="el-GR"/>
        </a:p>
      </dgm:t>
    </dgm:pt>
    <dgm:pt modelId="{767C7E74-8E48-4D38-B106-30D9C18BC94C}" type="sibTrans" cxnId="{331901DA-3A3B-462F-B1D8-8B83C0342769}">
      <dgm:prSet/>
      <dgm:spPr/>
      <dgm:t>
        <a:bodyPr/>
        <a:lstStyle/>
        <a:p>
          <a:endParaRPr lang="el-GR"/>
        </a:p>
      </dgm:t>
    </dgm:pt>
    <dgm:pt modelId="{26853517-407A-4C9E-BCFD-C6ADFC601976}">
      <dgm:prSet custT="1"/>
      <dgm:spPr/>
      <dgm:t>
        <a:bodyPr/>
        <a:lstStyle/>
        <a:p>
          <a:r>
            <a:rPr lang="en-US" sz="1200"/>
            <a:t>Science</a:t>
          </a:r>
          <a:endParaRPr lang="el-GR" sz="1200"/>
        </a:p>
      </dgm:t>
    </dgm:pt>
    <dgm:pt modelId="{E5CB40D5-A2B9-4C63-9068-230E04C040DD}" type="parTrans" cxnId="{4B469B20-FD12-425F-8895-14C5E58EE15C}">
      <dgm:prSet/>
      <dgm:spPr/>
      <dgm:t>
        <a:bodyPr/>
        <a:lstStyle/>
        <a:p>
          <a:endParaRPr lang="el-GR"/>
        </a:p>
      </dgm:t>
    </dgm:pt>
    <dgm:pt modelId="{5DA2DF6C-1FB0-447C-B975-57D84E769C75}" type="sibTrans" cxnId="{4B469B20-FD12-425F-8895-14C5E58EE15C}">
      <dgm:prSet/>
      <dgm:spPr/>
      <dgm:t>
        <a:bodyPr/>
        <a:lstStyle/>
        <a:p>
          <a:endParaRPr lang="el-GR"/>
        </a:p>
      </dgm:t>
    </dgm:pt>
    <dgm:pt modelId="{8CC9212B-EF7D-4333-ACA1-59EE44B97DF4}">
      <dgm:prSet/>
      <dgm:spPr/>
      <dgm:t>
        <a:bodyPr/>
        <a:lstStyle/>
        <a:p>
          <a:r>
            <a:rPr lang="en-US"/>
            <a:t>Our contract</a:t>
          </a:r>
          <a:endParaRPr lang="el-GR"/>
        </a:p>
      </dgm:t>
    </dgm:pt>
    <dgm:pt modelId="{C227CB9A-FD2D-48A5-AA96-F808FA03547D}" type="parTrans" cxnId="{44E15840-7ACC-411F-9A4A-B7E648ED16A8}">
      <dgm:prSet/>
      <dgm:spPr/>
      <dgm:t>
        <a:bodyPr/>
        <a:lstStyle/>
        <a:p>
          <a:endParaRPr lang="el-GR"/>
        </a:p>
      </dgm:t>
    </dgm:pt>
    <dgm:pt modelId="{48B71159-3B5A-4F01-A711-D59AFCA38C32}" type="sibTrans" cxnId="{44E15840-7ACC-411F-9A4A-B7E648ED16A8}">
      <dgm:prSet/>
      <dgm:spPr/>
      <dgm:t>
        <a:bodyPr/>
        <a:lstStyle/>
        <a:p>
          <a:endParaRPr lang="el-GR"/>
        </a:p>
      </dgm:t>
    </dgm:pt>
    <dgm:pt modelId="{9E7F17C2-582E-422D-8C0A-E10016AB312A}">
      <dgm:prSet/>
      <dgm:spPr/>
      <dgm:t>
        <a:bodyPr/>
        <a:lstStyle/>
        <a:p>
          <a:r>
            <a:rPr lang="en-US"/>
            <a:t>Analyze student data and based on patterns that we will exclude, make predictions on the Dropout problem</a:t>
          </a:r>
          <a:endParaRPr lang="el-GR"/>
        </a:p>
      </dgm:t>
    </dgm:pt>
    <dgm:pt modelId="{EC0A2634-CE1D-44A7-BD70-8E800655B037}" type="parTrans" cxnId="{CCD7A2EB-34E3-407B-9FA3-4CEE286AE56B}">
      <dgm:prSet/>
      <dgm:spPr/>
      <dgm:t>
        <a:bodyPr/>
        <a:lstStyle/>
        <a:p>
          <a:endParaRPr lang="el-GR"/>
        </a:p>
      </dgm:t>
    </dgm:pt>
    <dgm:pt modelId="{C69A5CC2-4BF3-4394-AFAF-3070F7E63A76}" type="sibTrans" cxnId="{CCD7A2EB-34E3-407B-9FA3-4CEE286AE56B}">
      <dgm:prSet/>
      <dgm:spPr/>
      <dgm:t>
        <a:bodyPr/>
        <a:lstStyle/>
        <a:p>
          <a:endParaRPr lang="el-GR"/>
        </a:p>
      </dgm:t>
    </dgm:pt>
    <dgm:pt modelId="{2596411C-8B9D-4DB5-9AAE-0922A32AB9BD}" type="pres">
      <dgm:prSet presAssocID="{0E1A158F-2E9C-4609-AC06-A2AC8C466FF6}" presName="Name0" presStyleCnt="0">
        <dgm:presLayoutVars>
          <dgm:dir/>
          <dgm:animLvl val="lvl"/>
          <dgm:resizeHandles val="exact"/>
        </dgm:presLayoutVars>
      </dgm:prSet>
      <dgm:spPr/>
    </dgm:pt>
    <dgm:pt modelId="{C2EA470B-0373-4F75-92FB-95A3697C30F1}" type="pres">
      <dgm:prSet presAssocID="{F8CA91BD-1C0B-4E7D-9018-F46B00C8BD2D}" presName="linNode" presStyleCnt="0"/>
      <dgm:spPr/>
    </dgm:pt>
    <dgm:pt modelId="{56B47985-2FA5-4986-A76B-04BD42BA79F0}" type="pres">
      <dgm:prSet presAssocID="{F8CA91BD-1C0B-4E7D-9018-F46B00C8BD2D}" presName="parentText" presStyleLbl="node1" presStyleIdx="0" presStyleCnt="3" custScaleX="277778">
        <dgm:presLayoutVars>
          <dgm:chMax val="1"/>
          <dgm:bulletEnabled val="1"/>
        </dgm:presLayoutVars>
      </dgm:prSet>
      <dgm:spPr/>
    </dgm:pt>
    <dgm:pt modelId="{AD76B23B-F66C-47D8-80C9-E321071262A4}" type="pres">
      <dgm:prSet presAssocID="{B488F35D-A619-429F-801B-CE23BBACB333}" presName="sp" presStyleCnt="0"/>
      <dgm:spPr/>
    </dgm:pt>
    <dgm:pt modelId="{32F2189B-4C76-4852-B694-64D98B717879}" type="pres">
      <dgm:prSet presAssocID="{8E88B8AD-70C0-45F1-A0D5-67B9508EB00C}" presName="linNode" presStyleCnt="0"/>
      <dgm:spPr/>
    </dgm:pt>
    <dgm:pt modelId="{22BDF51E-261E-4C3B-B389-965B6CE6E933}" type="pres">
      <dgm:prSet presAssocID="{8E88B8AD-70C0-45F1-A0D5-67B9508EB00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9989D8A-125D-43ED-9F00-831B7AB54516}" type="pres">
      <dgm:prSet presAssocID="{8E88B8AD-70C0-45F1-A0D5-67B9508EB00C}" presName="descendantText" presStyleLbl="alignAccFollowNode1" presStyleIdx="0" presStyleCnt="2">
        <dgm:presLayoutVars>
          <dgm:bulletEnabled val="1"/>
        </dgm:presLayoutVars>
      </dgm:prSet>
      <dgm:spPr/>
    </dgm:pt>
    <dgm:pt modelId="{A3370A31-677E-46F9-AE32-D97E2E2B7798}" type="pres">
      <dgm:prSet presAssocID="{69152BEF-E116-4160-9E50-6983A8371F99}" presName="sp" presStyleCnt="0"/>
      <dgm:spPr/>
    </dgm:pt>
    <dgm:pt modelId="{A9B084C0-2777-4A28-8AFF-1BA28B8BB648}" type="pres">
      <dgm:prSet presAssocID="{8CC9212B-EF7D-4333-ACA1-59EE44B97DF4}" presName="linNode" presStyleCnt="0"/>
      <dgm:spPr/>
    </dgm:pt>
    <dgm:pt modelId="{BFD7EF56-C29E-4F0D-8943-1FDAAD692469}" type="pres">
      <dgm:prSet presAssocID="{8CC9212B-EF7D-4333-ACA1-59EE44B97DF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DDE41A2-E4D6-4B4C-A7DB-5353EF7A4E73}" type="pres">
      <dgm:prSet presAssocID="{8CC9212B-EF7D-4333-ACA1-59EE44B97DF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08A1902-2D87-4C6F-B347-C2084FD8954E}" srcId="{0E1A158F-2E9C-4609-AC06-A2AC8C466FF6}" destId="{F8CA91BD-1C0B-4E7D-9018-F46B00C8BD2D}" srcOrd="0" destOrd="0" parTransId="{A71EE761-E274-4C04-BD85-5F084D085841}" sibTransId="{B488F35D-A619-429F-801B-CE23BBACB333}"/>
    <dgm:cxn modelId="{22AB7104-46F6-4FCF-B4C8-4D981E79C3F8}" srcId="{8E88B8AD-70C0-45F1-A0D5-67B9508EB00C}" destId="{F9550777-166D-49EB-9CA3-D5E7BD61976D}" srcOrd="1" destOrd="0" parTransId="{5EB684D3-04EA-4175-A8A5-39E333C0FF35}" sibTransId="{23B344D6-A49B-459A-9240-C824BE1C4EAC}"/>
    <dgm:cxn modelId="{4B469B20-FD12-425F-8895-14C5E58EE15C}" srcId="{8E88B8AD-70C0-45F1-A0D5-67B9508EB00C}" destId="{26853517-407A-4C9E-BCFD-C6ADFC601976}" srcOrd="4" destOrd="0" parTransId="{E5CB40D5-A2B9-4C63-9068-230E04C040DD}" sibTransId="{5DA2DF6C-1FB0-447C-B975-57D84E769C75}"/>
    <dgm:cxn modelId="{E678F237-7B82-4BA5-8694-B3F144950247}" type="presOf" srcId="{0E1A158F-2E9C-4609-AC06-A2AC8C466FF6}" destId="{2596411C-8B9D-4DB5-9AAE-0922A32AB9BD}" srcOrd="0" destOrd="0" presId="urn:microsoft.com/office/officeart/2005/8/layout/vList5"/>
    <dgm:cxn modelId="{44E15840-7ACC-411F-9A4A-B7E648ED16A8}" srcId="{0E1A158F-2E9C-4609-AC06-A2AC8C466FF6}" destId="{8CC9212B-EF7D-4333-ACA1-59EE44B97DF4}" srcOrd="2" destOrd="0" parTransId="{C227CB9A-FD2D-48A5-AA96-F808FA03547D}" sibTransId="{48B71159-3B5A-4F01-A711-D59AFCA38C32}"/>
    <dgm:cxn modelId="{5639AD6B-E69E-4A17-9FD0-134DD3F4AB76}" type="presOf" srcId="{9E7F17C2-582E-422D-8C0A-E10016AB312A}" destId="{5DDE41A2-E4D6-4B4C-A7DB-5353EF7A4E73}" srcOrd="0" destOrd="0" presId="urn:microsoft.com/office/officeart/2005/8/layout/vList5"/>
    <dgm:cxn modelId="{60E5EA4F-D840-495B-AD70-45ACF676493C}" type="presOf" srcId="{26A1C47E-4DFE-46A4-BDDC-BD489EAF5DB3}" destId="{29989D8A-125D-43ED-9F00-831B7AB54516}" srcOrd="0" destOrd="2" presId="urn:microsoft.com/office/officeart/2005/8/layout/vList5"/>
    <dgm:cxn modelId="{735BD959-39DD-41F1-9CB2-DCCC81BCC1F5}" type="presOf" srcId="{F8CA91BD-1C0B-4E7D-9018-F46B00C8BD2D}" destId="{56B47985-2FA5-4986-A76B-04BD42BA79F0}" srcOrd="0" destOrd="0" presId="urn:microsoft.com/office/officeart/2005/8/layout/vList5"/>
    <dgm:cxn modelId="{33943D88-701C-448E-82C1-CE77572C8A23}" type="presOf" srcId="{2329AE15-CF3E-4551-A317-29B8046FCC6B}" destId="{29989D8A-125D-43ED-9F00-831B7AB54516}" srcOrd="0" destOrd="3" presId="urn:microsoft.com/office/officeart/2005/8/layout/vList5"/>
    <dgm:cxn modelId="{7D2BD988-A572-47C8-A852-1B65A62AB2FA}" srcId="{0E1A158F-2E9C-4609-AC06-A2AC8C466FF6}" destId="{8E88B8AD-70C0-45F1-A0D5-67B9508EB00C}" srcOrd="1" destOrd="0" parTransId="{FD1451F4-FBFB-417E-BF7A-DF2F5AC7D244}" sibTransId="{69152BEF-E116-4160-9E50-6983A8371F99}"/>
    <dgm:cxn modelId="{8E38888D-FD5A-4BFC-A6C2-09A386E2A189}" type="presOf" srcId="{8E88B8AD-70C0-45F1-A0D5-67B9508EB00C}" destId="{22BDF51E-261E-4C3B-B389-965B6CE6E933}" srcOrd="0" destOrd="0" presId="urn:microsoft.com/office/officeart/2005/8/layout/vList5"/>
    <dgm:cxn modelId="{4A88E08F-56EB-4675-966F-464C936DDE63}" srcId="{8E88B8AD-70C0-45F1-A0D5-67B9508EB00C}" destId="{26A1C47E-4DFE-46A4-BDDC-BD489EAF5DB3}" srcOrd="2" destOrd="0" parTransId="{F106D331-0091-4ACA-9DAF-36CB94513BDA}" sibTransId="{36C0231A-A5FA-4DB0-8007-9D55D91440AF}"/>
    <dgm:cxn modelId="{E1458D9F-FC4E-40D8-B3CC-3AF09AF0620E}" type="presOf" srcId="{26853517-407A-4C9E-BCFD-C6ADFC601976}" destId="{29989D8A-125D-43ED-9F00-831B7AB54516}" srcOrd="0" destOrd="4" presId="urn:microsoft.com/office/officeart/2005/8/layout/vList5"/>
    <dgm:cxn modelId="{FFE720A7-7E22-4D7F-9F77-32420556B79F}" type="presOf" srcId="{F9550777-166D-49EB-9CA3-D5E7BD61976D}" destId="{29989D8A-125D-43ED-9F00-831B7AB54516}" srcOrd="0" destOrd="1" presId="urn:microsoft.com/office/officeart/2005/8/layout/vList5"/>
    <dgm:cxn modelId="{DED510AB-81C3-432F-BC28-60BD7891FC87}" type="presOf" srcId="{8CC9212B-EF7D-4333-ACA1-59EE44B97DF4}" destId="{BFD7EF56-C29E-4F0D-8943-1FDAAD692469}" srcOrd="0" destOrd="0" presId="urn:microsoft.com/office/officeart/2005/8/layout/vList5"/>
    <dgm:cxn modelId="{881D7DCF-FB9F-4CF1-A57E-9328DBC6DC1D}" srcId="{8E88B8AD-70C0-45F1-A0D5-67B9508EB00C}" destId="{94B4AB1F-24C5-48C1-B0E9-9FE561E1A6BE}" srcOrd="0" destOrd="0" parTransId="{D766645F-2C65-4481-89C0-B1C4218CDF74}" sibTransId="{1609E96D-2B3D-4978-AC8E-3B44688A86AC}"/>
    <dgm:cxn modelId="{8426BFD0-FD04-46BF-B1D4-8546693AA145}" type="presOf" srcId="{94B4AB1F-24C5-48C1-B0E9-9FE561E1A6BE}" destId="{29989D8A-125D-43ED-9F00-831B7AB54516}" srcOrd="0" destOrd="0" presId="urn:microsoft.com/office/officeart/2005/8/layout/vList5"/>
    <dgm:cxn modelId="{331901DA-3A3B-462F-B1D8-8B83C0342769}" srcId="{8E88B8AD-70C0-45F1-A0D5-67B9508EB00C}" destId="{2329AE15-CF3E-4551-A317-29B8046FCC6B}" srcOrd="3" destOrd="0" parTransId="{C8BABC3F-5A18-4CC1-A08F-8DBDF1AEC8F7}" sibTransId="{767C7E74-8E48-4D38-B106-30D9C18BC94C}"/>
    <dgm:cxn modelId="{CCD7A2EB-34E3-407B-9FA3-4CEE286AE56B}" srcId="{8CC9212B-EF7D-4333-ACA1-59EE44B97DF4}" destId="{9E7F17C2-582E-422D-8C0A-E10016AB312A}" srcOrd="0" destOrd="0" parTransId="{EC0A2634-CE1D-44A7-BD70-8E800655B037}" sibTransId="{C69A5CC2-4BF3-4394-AFAF-3070F7E63A76}"/>
    <dgm:cxn modelId="{6D131B6A-B02A-4007-A54B-E0274679C515}" type="presParOf" srcId="{2596411C-8B9D-4DB5-9AAE-0922A32AB9BD}" destId="{C2EA470B-0373-4F75-92FB-95A3697C30F1}" srcOrd="0" destOrd="0" presId="urn:microsoft.com/office/officeart/2005/8/layout/vList5"/>
    <dgm:cxn modelId="{78C7832A-9A02-4B20-8B5A-D9F53C8D3DC1}" type="presParOf" srcId="{C2EA470B-0373-4F75-92FB-95A3697C30F1}" destId="{56B47985-2FA5-4986-A76B-04BD42BA79F0}" srcOrd="0" destOrd="0" presId="urn:microsoft.com/office/officeart/2005/8/layout/vList5"/>
    <dgm:cxn modelId="{DF3753C6-DB3F-4E9B-82E7-A9CBD55ABF43}" type="presParOf" srcId="{2596411C-8B9D-4DB5-9AAE-0922A32AB9BD}" destId="{AD76B23B-F66C-47D8-80C9-E321071262A4}" srcOrd="1" destOrd="0" presId="urn:microsoft.com/office/officeart/2005/8/layout/vList5"/>
    <dgm:cxn modelId="{0C043C87-C2F9-4454-9077-F67455D80E3F}" type="presParOf" srcId="{2596411C-8B9D-4DB5-9AAE-0922A32AB9BD}" destId="{32F2189B-4C76-4852-B694-64D98B717879}" srcOrd="2" destOrd="0" presId="urn:microsoft.com/office/officeart/2005/8/layout/vList5"/>
    <dgm:cxn modelId="{0E255576-FC87-41BE-9170-774A0662AAE2}" type="presParOf" srcId="{32F2189B-4C76-4852-B694-64D98B717879}" destId="{22BDF51E-261E-4C3B-B389-965B6CE6E933}" srcOrd="0" destOrd="0" presId="urn:microsoft.com/office/officeart/2005/8/layout/vList5"/>
    <dgm:cxn modelId="{FA3E16AF-2317-4A5D-8674-CC48570F9591}" type="presParOf" srcId="{32F2189B-4C76-4852-B694-64D98B717879}" destId="{29989D8A-125D-43ED-9F00-831B7AB54516}" srcOrd="1" destOrd="0" presId="urn:microsoft.com/office/officeart/2005/8/layout/vList5"/>
    <dgm:cxn modelId="{BBFB9C11-DF05-432B-9ACA-0A6B356480A1}" type="presParOf" srcId="{2596411C-8B9D-4DB5-9AAE-0922A32AB9BD}" destId="{A3370A31-677E-46F9-AE32-D97E2E2B7798}" srcOrd="3" destOrd="0" presId="urn:microsoft.com/office/officeart/2005/8/layout/vList5"/>
    <dgm:cxn modelId="{265665BA-C2D9-4D09-AD08-744997D50F0F}" type="presParOf" srcId="{2596411C-8B9D-4DB5-9AAE-0922A32AB9BD}" destId="{A9B084C0-2777-4A28-8AFF-1BA28B8BB648}" srcOrd="4" destOrd="0" presId="urn:microsoft.com/office/officeart/2005/8/layout/vList5"/>
    <dgm:cxn modelId="{DBCB7EE8-74AD-426B-95B1-707DE18DF397}" type="presParOf" srcId="{A9B084C0-2777-4A28-8AFF-1BA28B8BB648}" destId="{BFD7EF56-C29E-4F0D-8943-1FDAAD692469}" srcOrd="0" destOrd="0" presId="urn:microsoft.com/office/officeart/2005/8/layout/vList5"/>
    <dgm:cxn modelId="{A942E686-AFC8-43FF-9524-C952F4573072}" type="presParOf" srcId="{A9B084C0-2777-4A28-8AFF-1BA28B8BB648}" destId="{5DDE41A2-E4D6-4B4C-A7DB-5353EF7A4E7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502578-6EB7-43C3-8EAC-505275F4D21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E5112E2C-EE47-459B-8E08-815ADB72A497}">
      <dgm:prSet/>
      <dgm:spPr/>
      <dgm:t>
        <a:bodyPr/>
        <a:lstStyle/>
        <a:p>
          <a:r>
            <a:rPr lang="en-US"/>
            <a:t>WHY student dropout?</a:t>
          </a:r>
          <a:endParaRPr lang="el-GR"/>
        </a:p>
      </dgm:t>
    </dgm:pt>
    <dgm:pt modelId="{0A9D4EED-C72B-47CB-BD5A-3C7881E821E8}" type="parTrans" cxnId="{26DDFB42-51ED-4ED3-8C51-457FF9211F0E}">
      <dgm:prSet/>
      <dgm:spPr/>
      <dgm:t>
        <a:bodyPr/>
        <a:lstStyle/>
        <a:p>
          <a:endParaRPr lang="el-GR"/>
        </a:p>
      </dgm:t>
    </dgm:pt>
    <dgm:pt modelId="{ED3199C1-0A1F-47D2-83A3-0066F76AF4EF}" type="sibTrans" cxnId="{26DDFB42-51ED-4ED3-8C51-457FF9211F0E}">
      <dgm:prSet/>
      <dgm:spPr/>
      <dgm:t>
        <a:bodyPr/>
        <a:lstStyle/>
        <a:p>
          <a:endParaRPr lang="el-GR"/>
        </a:p>
      </dgm:t>
    </dgm:pt>
    <dgm:pt modelId="{31CEF342-45C4-44A5-9B64-50DE7267B579}">
      <dgm:prSet/>
      <dgm:spPr/>
      <dgm:t>
        <a:bodyPr/>
        <a:lstStyle/>
        <a:p>
          <a:r>
            <a:rPr lang="en-US"/>
            <a:t>IS there a pattern this behavior follows?</a:t>
          </a:r>
          <a:endParaRPr lang="el-GR"/>
        </a:p>
      </dgm:t>
    </dgm:pt>
    <dgm:pt modelId="{86E089B3-3ADF-488A-8177-0BFA685F229A}" type="parTrans" cxnId="{4438EE74-F1AD-497C-B58A-3B2E1E89EFE3}">
      <dgm:prSet/>
      <dgm:spPr/>
      <dgm:t>
        <a:bodyPr/>
        <a:lstStyle/>
        <a:p>
          <a:endParaRPr lang="el-GR"/>
        </a:p>
      </dgm:t>
    </dgm:pt>
    <dgm:pt modelId="{FEEE6969-F0D6-41CA-9D71-310EEFC681E8}" type="sibTrans" cxnId="{4438EE74-F1AD-497C-B58A-3B2E1E89EFE3}">
      <dgm:prSet/>
      <dgm:spPr/>
      <dgm:t>
        <a:bodyPr/>
        <a:lstStyle/>
        <a:p>
          <a:endParaRPr lang="el-GR"/>
        </a:p>
      </dgm:t>
    </dgm:pt>
    <dgm:pt modelId="{374749AA-7856-4E73-A8A6-E9BABCB24791}">
      <dgm:prSet/>
      <dgm:spPr/>
      <dgm:t>
        <a:bodyPr/>
        <a:lstStyle/>
        <a:p>
          <a:r>
            <a:rPr lang="en-US" dirty="0"/>
            <a:t>HOW could we predict it?</a:t>
          </a:r>
          <a:endParaRPr lang="el-GR" dirty="0"/>
        </a:p>
      </dgm:t>
    </dgm:pt>
    <dgm:pt modelId="{AD038360-8BB8-4CBD-AB57-5F265B7EA980}" type="parTrans" cxnId="{94A8197D-C698-41C1-BE46-8E727BB9011F}">
      <dgm:prSet/>
      <dgm:spPr/>
      <dgm:t>
        <a:bodyPr/>
        <a:lstStyle/>
        <a:p>
          <a:endParaRPr lang="el-GR"/>
        </a:p>
      </dgm:t>
    </dgm:pt>
    <dgm:pt modelId="{72F9FED0-4784-4A32-83E6-05081F9D28A5}" type="sibTrans" cxnId="{94A8197D-C698-41C1-BE46-8E727BB9011F}">
      <dgm:prSet/>
      <dgm:spPr/>
      <dgm:t>
        <a:bodyPr/>
        <a:lstStyle/>
        <a:p>
          <a:endParaRPr lang="el-GR"/>
        </a:p>
      </dgm:t>
    </dgm:pt>
    <dgm:pt modelId="{AC66F661-5BAE-4683-9671-C1977CF92823}">
      <dgm:prSet/>
      <dgm:spPr/>
      <dgm:t>
        <a:bodyPr/>
        <a:lstStyle/>
        <a:p>
          <a:r>
            <a:rPr lang="en-US"/>
            <a:t>Is a prediction explainable</a:t>
          </a:r>
          <a:endParaRPr lang="el-GR"/>
        </a:p>
      </dgm:t>
    </dgm:pt>
    <dgm:pt modelId="{AF3DD3A7-AAC8-4CD3-B5EB-90A735159304}" type="parTrans" cxnId="{E3AA1AC5-45BB-43F2-8D09-91B1CEE59BA1}">
      <dgm:prSet/>
      <dgm:spPr/>
      <dgm:t>
        <a:bodyPr/>
        <a:lstStyle/>
        <a:p>
          <a:endParaRPr lang="el-GR"/>
        </a:p>
      </dgm:t>
    </dgm:pt>
    <dgm:pt modelId="{0B00EEBF-EC4E-47AF-8B7E-D5D20E571336}" type="sibTrans" cxnId="{E3AA1AC5-45BB-43F2-8D09-91B1CEE59BA1}">
      <dgm:prSet/>
      <dgm:spPr/>
      <dgm:t>
        <a:bodyPr/>
        <a:lstStyle/>
        <a:p>
          <a:endParaRPr lang="el-GR"/>
        </a:p>
      </dgm:t>
    </dgm:pt>
    <dgm:pt modelId="{3C2974BF-63D6-45EE-B8EA-C2C2D5F1F2E4}">
      <dgm:prSet/>
      <dgm:spPr/>
      <dgm:t>
        <a:bodyPr/>
        <a:lstStyle/>
        <a:p>
          <a:r>
            <a:rPr lang="en-US" dirty="0"/>
            <a:t>WHAT policies a college could apply to reduce it</a:t>
          </a:r>
          <a:endParaRPr lang="el-GR" dirty="0"/>
        </a:p>
      </dgm:t>
    </dgm:pt>
    <dgm:pt modelId="{5A79DE67-C7BE-4952-9374-6984336229BC}" type="parTrans" cxnId="{339D0D70-10E4-4B5B-BB2D-C517A86AB9CE}">
      <dgm:prSet/>
      <dgm:spPr/>
      <dgm:t>
        <a:bodyPr/>
        <a:lstStyle/>
        <a:p>
          <a:endParaRPr lang="el-GR"/>
        </a:p>
      </dgm:t>
    </dgm:pt>
    <dgm:pt modelId="{CA94740A-B499-43EE-8429-A0C07FEF695E}" type="sibTrans" cxnId="{339D0D70-10E4-4B5B-BB2D-C517A86AB9CE}">
      <dgm:prSet/>
      <dgm:spPr/>
      <dgm:t>
        <a:bodyPr/>
        <a:lstStyle/>
        <a:p>
          <a:endParaRPr lang="el-GR"/>
        </a:p>
      </dgm:t>
    </dgm:pt>
    <dgm:pt modelId="{A62768DA-D79B-4394-8A20-CABD74784357}" type="pres">
      <dgm:prSet presAssocID="{05502578-6EB7-43C3-8EAC-505275F4D21E}" presName="Name0" presStyleCnt="0">
        <dgm:presLayoutVars>
          <dgm:dir/>
          <dgm:animLvl val="lvl"/>
          <dgm:resizeHandles val="exact"/>
        </dgm:presLayoutVars>
      </dgm:prSet>
      <dgm:spPr/>
    </dgm:pt>
    <dgm:pt modelId="{6CA2DA5E-6BE2-47B3-BE11-E3351ED53512}" type="pres">
      <dgm:prSet presAssocID="{E5112E2C-EE47-459B-8E08-815ADB72A497}" presName="linNode" presStyleCnt="0"/>
      <dgm:spPr/>
    </dgm:pt>
    <dgm:pt modelId="{EA9E026B-4357-45CF-86BF-0D0F1FA047F0}" type="pres">
      <dgm:prSet presAssocID="{E5112E2C-EE47-459B-8E08-815ADB72A497}" presName="parentText" presStyleLbl="node1" presStyleIdx="0" presStyleCnt="3" custScaleX="105812">
        <dgm:presLayoutVars>
          <dgm:chMax val="1"/>
          <dgm:bulletEnabled val="1"/>
        </dgm:presLayoutVars>
      </dgm:prSet>
      <dgm:spPr/>
    </dgm:pt>
    <dgm:pt modelId="{CBC692C6-18D8-4870-921C-F1DABF9A5ACC}" type="pres">
      <dgm:prSet presAssocID="{E5112E2C-EE47-459B-8E08-815ADB72A497}" presName="descendantText" presStyleLbl="alignAccFollowNode1" presStyleIdx="0" presStyleCnt="2">
        <dgm:presLayoutVars>
          <dgm:bulletEnabled val="1"/>
        </dgm:presLayoutVars>
      </dgm:prSet>
      <dgm:spPr/>
    </dgm:pt>
    <dgm:pt modelId="{E619D81B-42C9-488D-BFDE-5BBC8044DE2F}" type="pres">
      <dgm:prSet presAssocID="{ED3199C1-0A1F-47D2-83A3-0066F76AF4EF}" presName="sp" presStyleCnt="0"/>
      <dgm:spPr/>
    </dgm:pt>
    <dgm:pt modelId="{A2824C53-3061-44E6-AE3D-46882A00BCB0}" type="pres">
      <dgm:prSet presAssocID="{374749AA-7856-4E73-A8A6-E9BABCB24791}" presName="linNode" presStyleCnt="0"/>
      <dgm:spPr/>
    </dgm:pt>
    <dgm:pt modelId="{104E144D-4CF1-42E9-9ACD-812C66FBAE08}" type="pres">
      <dgm:prSet presAssocID="{374749AA-7856-4E73-A8A6-E9BABCB24791}" presName="parentText" presStyleLbl="node1" presStyleIdx="1" presStyleCnt="3" custScaleX="128243">
        <dgm:presLayoutVars>
          <dgm:chMax val="1"/>
          <dgm:bulletEnabled val="1"/>
        </dgm:presLayoutVars>
      </dgm:prSet>
      <dgm:spPr/>
    </dgm:pt>
    <dgm:pt modelId="{7A2EF9DB-B99F-4A88-9D40-BF5224737848}" type="pres">
      <dgm:prSet presAssocID="{374749AA-7856-4E73-A8A6-E9BABCB24791}" presName="descendantText" presStyleLbl="alignAccFollowNode1" presStyleIdx="1" presStyleCnt="2">
        <dgm:presLayoutVars>
          <dgm:bulletEnabled val="1"/>
        </dgm:presLayoutVars>
      </dgm:prSet>
      <dgm:spPr/>
    </dgm:pt>
    <dgm:pt modelId="{FC7A1134-3527-47C4-9516-C554AA4127B9}" type="pres">
      <dgm:prSet presAssocID="{72F9FED0-4784-4A32-83E6-05081F9D28A5}" presName="sp" presStyleCnt="0"/>
      <dgm:spPr/>
    </dgm:pt>
    <dgm:pt modelId="{B61E0BF4-C02C-41FE-BB68-64E9585D19D1}" type="pres">
      <dgm:prSet presAssocID="{3C2974BF-63D6-45EE-B8EA-C2C2D5F1F2E4}" presName="linNode" presStyleCnt="0"/>
      <dgm:spPr/>
    </dgm:pt>
    <dgm:pt modelId="{DBD6B5DC-8F5A-4823-AC1C-412FB4FE1C15}" type="pres">
      <dgm:prSet presAssocID="{3C2974BF-63D6-45EE-B8EA-C2C2D5F1F2E4}" presName="parentText" presStyleLbl="node1" presStyleIdx="2" presStyleCnt="3" custScaleX="277778">
        <dgm:presLayoutVars>
          <dgm:chMax val="1"/>
          <dgm:bulletEnabled val="1"/>
        </dgm:presLayoutVars>
      </dgm:prSet>
      <dgm:spPr/>
    </dgm:pt>
  </dgm:ptLst>
  <dgm:cxnLst>
    <dgm:cxn modelId="{AB585012-60B9-46C3-8EEF-C638F0D2AAAC}" type="presOf" srcId="{E5112E2C-EE47-459B-8E08-815ADB72A497}" destId="{EA9E026B-4357-45CF-86BF-0D0F1FA047F0}" srcOrd="0" destOrd="0" presId="urn:microsoft.com/office/officeart/2005/8/layout/vList5"/>
    <dgm:cxn modelId="{DF03F33A-4F4C-42DF-929B-FDC68FF586E8}" type="presOf" srcId="{AC66F661-5BAE-4683-9671-C1977CF92823}" destId="{7A2EF9DB-B99F-4A88-9D40-BF5224737848}" srcOrd="0" destOrd="0" presId="urn:microsoft.com/office/officeart/2005/8/layout/vList5"/>
    <dgm:cxn modelId="{26DDFB42-51ED-4ED3-8C51-457FF9211F0E}" srcId="{05502578-6EB7-43C3-8EAC-505275F4D21E}" destId="{E5112E2C-EE47-459B-8E08-815ADB72A497}" srcOrd="0" destOrd="0" parTransId="{0A9D4EED-C72B-47CB-BD5A-3C7881E821E8}" sibTransId="{ED3199C1-0A1F-47D2-83A3-0066F76AF4EF}"/>
    <dgm:cxn modelId="{EAB9866E-B121-4AD2-B131-8A9373B1A424}" type="presOf" srcId="{374749AA-7856-4E73-A8A6-E9BABCB24791}" destId="{104E144D-4CF1-42E9-9ACD-812C66FBAE08}" srcOrd="0" destOrd="0" presId="urn:microsoft.com/office/officeart/2005/8/layout/vList5"/>
    <dgm:cxn modelId="{339D0D70-10E4-4B5B-BB2D-C517A86AB9CE}" srcId="{05502578-6EB7-43C3-8EAC-505275F4D21E}" destId="{3C2974BF-63D6-45EE-B8EA-C2C2D5F1F2E4}" srcOrd="2" destOrd="0" parTransId="{5A79DE67-C7BE-4952-9374-6984336229BC}" sibTransId="{CA94740A-B499-43EE-8429-A0C07FEF695E}"/>
    <dgm:cxn modelId="{4438EE74-F1AD-497C-B58A-3B2E1E89EFE3}" srcId="{E5112E2C-EE47-459B-8E08-815ADB72A497}" destId="{31CEF342-45C4-44A5-9B64-50DE7267B579}" srcOrd="0" destOrd="0" parTransId="{86E089B3-3ADF-488A-8177-0BFA685F229A}" sibTransId="{FEEE6969-F0D6-41CA-9D71-310EEFC681E8}"/>
    <dgm:cxn modelId="{94A8197D-C698-41C1-BE46-8E727BB9011F}" srcId="{05502578-6EB7-43C3-8EAC-505275F4D21E}" destId="{374749AA-7856-4E73-A8A6-E9BABCB24791}" srcOrd="1" destOrd="0" parTransId="{AD038360-8BB8-4CBD-AB57-5F265B7EA980}" sibTransId="{72F9FED0-4784-4A32-83E6-05081F9D28A5}"/>
    <dgm:cxn modelId="{4518D593-FAE6-4D59-AF3D-09766152D781}" type="presOf" srcId="{05502578-6EB7-43C3-8EAC-505275F4D21E}" destId="{A62768DA-D79B-4394-8A20-CABD74784357}" srcOrd="0" destOrd="0" presId="urn:microsoft.com/office/officeart/2005/8/layout/vList5"/>
    <dgm:cxn modelId="{0D7945A1-9021-4176-8785-F08DD8D8904C}" type="presOf" srcId="{3C2974BF-63D6-45EE-B8EA-C2C2D5F1F2E4}" destId="{DBD6B5DC-8F5A-4823-AC1C-412FB4FE1C15}" srcOrd="0" destOrd="0" presId="urn:microsoft.com/office/officeart/2005/8/layout/vList5"/>
    <dgm:cxn modelId="{E3AA1AC5-45BB-43F2-8D09-91B1CEE59BA1}" srcId="{374749AA-7856-4E73-A8A6-E9BABCB24791}" destId="{AC66F661-5BAE-4683-9671-C1977CF92823}" srcOrd="0" destOrd="0" parTransId="{AF3DD3A7-AAC8-4CD3-B5EB-90A735159304}" sibTransId="{0B00EEBF-EC4E-47AF-8B7E-D5D20E571336}"/>
    <dgm:cxn modelId="{D5B12ECA-6F82-45F6-9132-4B3C2FE6FDDC}" type="presOf" srcId="{31CEF342-45C4-44A5-9B64-50DE7267B579}" destId="{CBC692C6-18D8-4870-921C-F1DABF9A5ACC}" srcOrd="0" destOrd="0" presId="urn:microsoft.com/office/officeart/2005/8/layout/vList5"/>
    <dgm:cxn modelId="{F4850C64-CE99-4B82-8483-23455CB3F5AC}" type="presParOf" srcId="{A62768DA-D79B-4394-8A20-CABD74784357}" destId="{6CA2DA5E-6BE2-47B3-BE11-E3351ED53512}" srcOrd="0" destOrd="0" presId="urn:microsoft.com/office/officeart/2005/8/layout/vList5"/>
    <dgm:cxn modelId="{4DFEE817-A8A1-4B69-95E7-A38AC8D6EC00}" type="presParOf" srcId="{6CA2DA5E-6BE2-47B3-BE11-E3351ED53512}" destId="{EA9E026B-4357-45CF-86BF-0D0F1FA047F0}" srcOrd="0" destOrd="0" presId="urn:microsoft.com/office/officeart/2005/8/layout/vList5"/>
    <dgm:cxn modelId="{692747B8-87D3-4AF1-A019-06C8CECE8839}" type="presParOf" srcId="{6CA2DA5E-6BE2-47B3-BE11-E3351ED53512}" destId="{CBC692C6-18D8-4870-921C-F1DABF9A5ACC}" srcOrd="1" destOrd="0" presId="urn:microsoft.com/office/officeart/2005/8/layout/vList5"/>
    <dgm:cxn modelId="{0E8C1FF3-CFBB-4181-AAD1-E64BE346E54E}" type="presParOf" srcId="{A62768DA-D79B-4394-8A20-CABD74784357}" destId="{E619D81B-42C9-488D-BFDE-5BBC8044DE2F}" srcOrd="1" destOrd="0" presId="urn:microsoft.com/office/officeart/2005/8/layout/vList5"/>
    <dgm:cxn modelId="{5A5C96E3-30AE-41EB-8223-92E2BE300902}" type="presParOf" srcId="{A62768DA-D79B-4394-8A20-CABD74784357}" destId="{A2824C53-3061-44E6-AE3D-46882A00BCB0}" srcOrd="2" destOrd="0" presId="urn:microsoft.com/office/officeart/2005/8/layout/vList5"/>
    <dgm:cxn modelId="{779F5E05-9332-46D8-AD97-A2F134BFF1BD}" type="presParOf" srcId="{A2824C53-3061-44E6-AE3D-46882A00BCB0}" destId="{104E144D-4CF1-42E9-9ACD-812C66FBAE08}" srcOrd="0" destOrd="0" presId="urn:microsoft.com/office/officeart/2005/8/layout/vList5"/>
    <dgm:cxn modelId="{211E7792-8D0B-4C19-8586-B2B651115320}" type="presParOf" srcId="{A2824C53-3061-44E6-AE3D-46882A00BCB0}" destId="{7A2EF9DB-B99F-4A88-9D40-BF5224737848}" srcOrd="1" destOrd="0" presId="urn:microsoft.com/office/officeart/2005/8/layout/vList5"/>
    <dgm:cxn modelId="{F597D881-0496-428C-942F-7D12B0D46E1F}" type="presParOf" srcId="{A62768DA-D79B-4394-8A20-CABD74784357}" destId="{FC7A1134-3527-47C4-9516-C554AA4127B9}" srcOrd="3" destOrd="0" presId="urn:microsoft.com/office/officeart/2005/8/layout/vList5"/>
    <dgm:cxn modelId="{B58BE22A-766E-477E-99E6-DBB3A613EBBC}" type="presParOf" srcId="{A62768DA-D79B-4394-8A20-CABD74784357}" destId="{B61E0BF4-C02C-41FE-BB68-64E9585D19D1}" srcOrd="4" destOrd="0" presId="urn:microsoft.com/office/officeart/2005/8/layout/vList5"/>
    <dgm:cxn modelId="{8CD70DBA-4FBF-4FDA-B45F-5BFC7BF431D5}" type="presParOf" srcId="{B61E0BF4-C02C-41FE-BB68-64E9585D19D1}" destId="{DBD6B5DC-8F5A-4823-AC1C-412FB4FE1C1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96C88A-5790-40DC-9D05-DA7D422C30B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C834B17E-CD81-40B9-B273-A8ACDEF79136}">
      <dgm:prSet/>
      <dgm:spPr/>
      <dgm:t>
        <a:bodyPr/>
        <a:lstStyle/>
        <a:p>
          <a:r>
            <a:rPr lang="en-US" dirty="0"/>
            <a:t>10.000 student real cases</a:t>
          </a:r>
          <a:endParaRPr lang="el-GR" dirty="0"/>
        </a:p>
      </dgm:t>
    </dgm:pt>
    <dgm:pt modelId="{52D33063-750D-40A4-BF19-403FD49828A2}" type="parTrans" cxnId="{74F516E6-541C-4EC0-88F6-7BABC22760CA}">
      <dgm:prSet/>
      <dgm:spPr/>
      <dgm:t>
        <a:bodyPr/>
        <a:lstStyle/>
        <a:p>
          <a:endParaRPr lang="el-GR"/>
        </a:p>
      </dgm:t>
    </dgm:pt>
    <dgm:pt modelId="{1E65AD3A-6B13-4CF7-9A83-D0EDD68E256E}" type="sibTrans" cxnId="{74F516E6-541C-4EC0-88F6-7BABC22760CA}">
      <dgm:prSet/>
      <dgm:spPr/>
      <dgm:t>
        <a:bodyPr/>
        <a:lstStyle/>
        <a:p>
          <a:endParaRPr lang="el-GR"/>
        </a:p>
      </dgm:t>
    </dgm:pt>
    <dgm:pt modelId="{10D79A12-ADCC-48D6-9576-9090E74BD047}">
      <dgm:prSet custT="1"/>
      <dgm:spPr/>
      <dgm:t>
        <a:bodyPr/>
        <a:lstStyle/>
        <a:p>
          <a:r>
            <a:rPr lang="en-US" sz="2000" dirty="0"/>
            <a:t>Features: Age, Gender, Income, Attendance, Delays, Travel time, Scholarship, Part time job, </a:t>
          </a:r>
          <a:r>
            <a:rPr lang="en-US" sz="2000" dirty="0" err="1"/>
            <a:t>etc</a:t>
          </a:r>
          <a:endParaRPr lang="el-GR" sz="2000" dirty="0"/>
        </a:p>
      </dgm:t>
    </dgm:pt>
    <dgm:pt modelId="{A7502B68-6553-47ED-A514-56C43D691495}" type="parTrans" cxnId="{A447D66D-D594-40C5-9E19-9F2ABC1D7B0C}">
      <dgm:prSet/>
      <dgm:spPr/>
      <dgm:t>
        <a:bodyPr/>
        <a:lstStyle/>
        <a:p>
          <a:endParaRPr lang="el-GR"/>
        </a:p>
      </dgm:t>
    </dgm:pt>
    <dgm:pt modelId="{2C2918DF-3731-475F-8191-2179A2CD115C}" type="sibTrans" cxnId="{A447D66D-D594-40C5-9E19-9F2ABC1D7B0C}">
      <dgm:prSet/>
      <dgm:spPr/>
      <dgm:t>
        <a:bodyPr/>
        <a:lstStyle/>
        <a:p>
          <a:endParaRPr lang="el-GR"/>
        </a:p>
      </dgm:t>
    </dgm:pt>
    <dgm:pt modelId="{30955913-9ABF-4EB0-84A0-179207150691}">
      <dgm:prSet/>
      <dgm:spPr/>
      <dgm:t>
        <a:bodyPr/>
        <a:lstStyle/>
        <a:p>
          <a:r>
            <a:rPr lang="en-US" dirty="0"/>
            <a:t>Source: </a:t>
          </a:r>
          <a:r>
            <a:rPr lang="en-US" dirty="0">
              <a:solidFill>
                <a:srgbClr val="00206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https://www.kaggle.com/datasets/meharshanali/student-dropout-prediction-dataset</a:t>
          </a:r>
          <a:endParaRPr lang="el-GR" dirty="0">
            <a:solidFill>
              <a:srgbClr val="002060"/>
            </a:solidFill>
          </a:endParaRPr>
        </a:p>
      </dgm:t>
    </dgm:pt>
    <dgm:pt modelId="{0D1BC4E9-9FE4-492E-9671-237B02A8D89D}" type="parTrans" cxnId="{53BC6B4D-9BDC-4D98-8B9E-483F7C639846}">
      <dgm:prSet/>
      <dgm:spPr/>
      <dgm:t>
        <a:bodyPr/>
        <a:lstStyle/>
        <a:p>
          <a:endParaRPr lang="el-GR"/>
        </a:p>
      </dgm:t>
    </dgm:pt>
    <dgm:pt modelId="{AD2BA311-D9D3-4A6E-BA30-EB7F8089D5F7}" type="sibTrans" cxnId="{53BC6B4D-9BDC-4D98-8B9E-483F7C639846}">
      <dgm:prSet/>
      <dgm:spPr/>
      <dgm:t>
        <a:bodyPr/>
        <a:lstStyle/>
        <a:p>
          <a:endParaRPr lang="el-GR"/>
        </a:p>
      </dgm:t>
    </dgm:pt>
    <dgm:pt modelId="{BBA398D6-6D8D-4B08-9CF1-F249E305CD3C}" type="pres">
      <dgm:prSet presAssocID="{5096C88A-5790-40DC-9D05-DA7D422C30BB}" presName="Name0" presStyleCnt="0">
        <dgm:presLayoutVars>
          <dgm:dir/>
          <dgm:animLvl val="lvl"/>
          <dgm:resizeHandles val="exact"/>
        </dgm:presLayoutVars>
      </dgm:prSet>
      <dgm:spPr/>
    </dgm:pt>
    <dgm:pt modelId="{CF57C98D-E3FC-4E16-9885-5FC30A62A468}" type="pres">
      <dgm:prSet presAssocID="{C834B17E-CD81-40B9-B273-A8ACDEF79136}" presName="linNode" presStyleCnt="0"/>
      <dgm:spPr/>
    </dgm:pt>
    <dgm:pt modelId="{A23C5782-9C47-4E7A-B298-8124AF070375}" type="pres">
      <dgm:prSet presAssocID="{C834B17E-CD81-40B9-B273-A8ACDEF7913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8762F9D-74B2-453F-87A3-D996E27CC1F9}" type="pres">
      <dgm:prSet presAssocID="{C834B17E-CD81-40B9-B273-A8ACDEF79136}" presName="descendantText" presStyleLbl="alignAccFollowNode1" presStyleIdx="0" presStyleCnt="1">
        <dgm:presLayoutVars>
          <dgm:bulletEnabled val="1"/>
        </dgm:presLayoutVars>
      </dgm:prSet>
      <dgm:spPr/>
    </dgm:pt>
    <dgm:pt modelId="{2A0B6CF8-1F61-4C8D-BFE6-1003365C6A5A}" type="pres">
      <dgm:prSet presAssocID="{1E65AD3A-6B13-4CF7-9A83-D0EDD68E256E}" presName="sp" presStyleCnt="0"/>
      <dgm:spPr/>
    </dgm:pt>
    <dgm:pt modelId="{096C85EB-24FE-4E3B-9538-2C8BC9351929}" type="pres">
      <dgm:prSet presAssocID="{30955913-9ABF-4EB0-84A0-179207150691}" presName="linNode" presStyleCnt="0"/>
      <dgm:spPr/>
    </dgm:pt>
    <dgm:pt modelId="{167CDB1D-4E3E-4C81-8A9E-A232D4132E45}" type="pres">
      <dgm:prSet presAssocID="{30955913-9ABF-4EB0-84A0-179207150691}" presName="parentText" presStyleLbl="node1" presStyleIdx="1" presStyleCnt="2" custScaleX="277778">
        <dgm:presLayoutVars>
          <dgm:chMax val="1"/>
          <dgm:bulletEnabled val="1"/>
        </dgm:presLayoutVars>
      </dgm:prSet>
      <dgm:spPr/>
    </dgm:pt>
  </dgm:ptLst>
  <dgm:cxnLst>
    <dgm:cxn modelId="{53BC6B4D-9BDC-4D98-8B9E-483F7C639846}" srcId="{5096C88A-5790-40DC-9D05-DA7D422C30BB}" destId="{30955913-9ABF-4EB0-84A0-179207150691}" srcOrd="1" destOrd="0" parTransId="{0D1BC4E9-9FE4-492E-9671-237B02A8D89D}" sibTransId="{AD2BA311-D9D3-4A6E-BA30-EB7F8089D5F7}"/>
    <dgm:cxn modelId="{A447D66D-D594-40C5-9E19-9F2ABC1D7B0C}" srcId="{C834B17E-CD81-40B9-B273-A8ACDEF79136}" destId="{10D79A12-ADCC-48D6-9576-9090E74BD047}" srcOrd="0" destOrd="0" parTransId="{A7502B68-6553-47ED-A514-56C43D691495}" sibTransId="{2C2918DF-3731-475F-8191-2179A2CD115C}"/>
    <dgm:cxn modelId="{ACC41C76-36AD-4AF6-B25F-6610B2A12938}" type="presOf" srcId="{C834B17E-CD81-40B9-B273-A8ACDEF79136}" destId="{A23C5782-9C47-4E7A-B298-8124AF070375}" srcOrd="0" destOrd="0" presId="urn:microsoft.com/office/officeart/2005/8/layout/vList5"/>
    <dgm:cxn modelId="{29393681-742B-4967-8774-8066ED606CA2}" type="presOf" srcId="{30955913-9ABF-4EB0-84A0-179207150691}" destId="{167CDB1D-4E3E-4C81-8A9E-A232D4132E45}" srcOrd="0" destOrd="0" presId="urn:microsoft.com/office/officeart/2005/8/layout/vList5"/>
    <dgm:cxn modelId="{C6D25F93-9A6E-4B5F-8C57-D3C8153FC1ED}" type="presOf" srcId="{5096C88A-5790-40DC-9D05-DA7D422C30BB}" destId="{BBA398D6-6D8D-4B08-9CF1-F249E305CD3C}" srcOrd="0" destOrd="0" presId="urn:microsoft.com/office/officeart/2005/8/layout/vList5"/>
    <dgm:cxn modelId="{8C7FB997-B849-431A-80B2-0E0AF9B2DCBD}" type="presOf" srcId="{10D79A12-ADCC-48D6-9576-9090E74BD047}" destId="{B8762F9D-74B2-453F-87A3-D996E27CC1F9}" srcOrd="0" destOrd="0" presId="urn:microsoft.com/office/officeart/2005/8/layout/vList5"/>
    <dgm:cxn modelId="{74F516E6-541C-4EC0-88F6-7BABC22760CA}" srcId="{5096C88A-5790-40DC-9D05-DA7D422C30BB}" destId="{C834B17E-CD81-40B9-B273-A8ACDEF79136}" srcOrd="0" destOrd="0" parTransId="{52D33063-750D-40A4-BF19-403FD49828A2}" sibTransId="{1E65AD3A-6B13-4CF7-9A83-D0EDD68E256E}"/>
    <dgm:cxn modelId="{FC2A6128-684B-4D26-ACD6-03A5013458E2}" type="presParOf" srcId="{BBA398D6-6D8D-4B08-9CF1-F249E305CD3C}" destId="{CF57C98D-E3FC-4E16-9885-5FC30A62A468}" srcOrd="0" destOrd="0" presId="urn:microsoft.com/office/officeart/2005/8/layout/vList5"/>
    <dgm:cxn modelId="{0DA2720E-04E1-440E-B6BF-2C8B7A004C1F}" type="presParOf" srcId="{CF57C98D-E3FC-4E16-9885-5FC30A62A468}" destId="{A23C5782-9C47-4E7A-B298-8124AF070375}" srcOrd="0" destOrd="0" presId="urn:microsoft.com/office/officeart/2005/8/layout/vList5"/>
    <dgm:cxn modelId="{C7584EAD-634D-432F-B4E7-F5EAB8BB31BB}" type="presParOf" srcId="{CF57C98D-E3FC-4E16-9885-5FC30A62A468}" destId="{B8762F9D-74B2-453F-87A3-D996E27CC1F9}" srcOrd="1" destOrd="0" presId="urn:microsoft.com/office/officeart/2005/8/layout/vList5"/>
    <dgm:cxn modelId="{DF244A57-DB8B-4DA4-BC72-A1BD558E6305}" type="presParOf" srcId="{BBA398D6-6D8D-4B08-9CF1-F249E305CD3C}" destId="{2A0B6CF8-1F61-4C8D-BFE6-1003365C6A5A}" srcOrd="1" destOrd="0" presId="urn:microsoft.com/office/officeart/2005/8/layout/vList5"/>
    <dgm:cxn modelId="{8951359D-471E-463A-9D0E-34D7BB7C813C}" type="presParOf" srcId="{BBA398D6-6D8D-4B08-9CF1-F249E305CD3C}" destId="{096C85EB-24FE-4E3B-9538-2C8BC9351929}" srcOrd="2" destOrd="0" presId="urn:microsoft.com/office/officeart/2005/8/layout/vList5"/>
    <dgm:cxn modelId="{125E207F-9CA2-4085-A00F-5EFC71FFFDB4}" type="presParOf" srcId="{096C85EB-24FE-4E3B-9538-2C8BC9351929}" destId="{167CDB1D-4E3E-4C81-8A9E-A232D4132E4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47985-2FA5-4986-A76B-04BD42BA79F0}">
      <dsp:nvSpPr>
        <dsp:cNvPr id="0" name=""/>
        <dsp:cNvSpPr/>
      </dsp:nvSpPr>
      <dsp:spPr>
        <a:xfrm>
          <a:off x="0" y="1899"/>
          <a:ext cx="10008937" cy="1253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 widely known International College</a:t>
          </a:r>
          <a:endParaRPr lang="el-GR" sz="4200" kern="1200"/>
        </a:p>
      </dsp:txBody>
      <dsp:txXfrm>
        <a:off x="61185" y="63084"/>
        <a:ext cx="9886567" cy="1131001"/>
      </dsp:txXfrm>
    </dsp:sp>
    <dsp:sp modelId="{29989D8A-125D-43ED-9F00-831B7AB54516}">
      <dsp:nvSpPr>
        <dsp:cNvPr id="0" name=""/>
        <dsp:cNvSpPr/>
      </dsp:nvSpPr>
      <dsp:spPr>
        <a:xfrm rot="5400000">
          <a:off x="6311376" y="-1261363"/>
          <a:ext cx="1002697" cy="64119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Arts</a:t>
          </a:r>
          <a:endParaRPr lang="el-GR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Business</a:t>
          </a:r>
          <a:endParaRPr lang="el-GR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Computer Science</a:t>
          </a:r>
          <a:endParaRPr lang="el-GR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Engineering</a:t>
          </a:r>
          <a:endParaRPr lang="el-GR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Science</a:t>
          </a:r>
          <a:endParaRPr lang="el-GR" sz="1200" kern="1200"/>
        </a:p>
      </dsp:txBody>
      <dsp:txXfrm rot="-5400000">
        <a:off x="3606737" y="1492224"/>
        <a:ext cx="6363028" cy="904801"/>
      </dsp:txXfrm>
    </dsp:sp>
    <dsp:sp modelId="{22BDF51E-261E-4C3B-B389-965B6CE6E933}">
      <dsp:nvSpPr>
        <dsp:cNvPr id="0" name=""/>
        <dsp:cNvSpPr/>
      </dsp:nvSpPr>
      <dsp:spPr>
        <a:xfrm>
          <a:off x="0" y="1317938"/>
          <a:ext cx="3606736" cy="1253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Departments</a:t>
          </a:r>
          <a:endParaRPr lang="el-GR" sz="4200" kern="1200"/>
        </a:p>
      </dsp:txBody>
      <dsp:txXfrm>
        <a:off x="61185" y="1379123"/>
        <a:ext cx="3484366" cy="1131001"/>
      </dsp:txXfrm>
    </dsp:sp>
    <dsp:sp modelId="{5DDE41A2-E4D6-4B4C-A7DB-5353EF7A4E73}">
      <dsp:nvSpPr>
        <dsp:cNvPr id="0" name=""/>
        <dsp:cNvSpPr/>
      </dsp:nvSpPr>
      <dsp:spPr>
        <a:xfrm rot="5400000">
          <a:off x="6311376" y="54676"/>
          <a:ext cx="1002697" cy="64119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Analyze student data and based on patterns that we will exclude, make predictions on the Dropout problem</a:t>
          </a:r>
          <a:endParaRPr lang="el-GR" sz="2000" kern="1200"/>
        </a:p>
      </dsp:txBody>
      <dsp:txXfrm rot="-5400000">
        <a:off x="3606737" y="2808263"/>
        <a:ext cx="6363028" cy="904801"/>
      </dsp:txXfrm>
    </dsp:sp>
    <dsp:sp modelId="{BFD7EF56-C29E-4F0D-8943-1FDAAD692469}">
      <dsp:nvSpPr>
        <dsp:cNvPr id="0" name=""/>
        <dsp:cNvSpPr/>
      </dsp:nvSpPr>
      <dsp:spPr>
        <a:xfrm>
          <a:off x="0" y="2633978"/>
          <a:ext cx="3606736" cy="1253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Our contract</a:t>
          </a:r>
          <a:endParaRPr lang="el-GR" sz="4200" kern="1200"/>
        </a:p>
      </dsp:txBody>
      <dsp:txXfrm>
        <a:off x="61185" y="2695163"/>
        <a:ext cx="3484366" cy="11310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692C6-18D8-4870-921C-F1DABF9A5ACC}">
      <dsp:nvSpPr>
        <dsp:cNvPr id="0" name=""/>
        <dsp:cNvSpPr/>
      </dsp:nvSpPr>
      <dsp:spPr>
        <a:xfrm rot="5400000">
          <a:off x="6475674" y="-2635303"/>
          <a:ext cx="805458" cy="62804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IS there a pattern this behavior follows?</a:t>
          </a:r>
          <a:endParaRPr lang="el-GR" sz="2700" kern="1200"/>
        </a:p>
      </dsp:txBody>
      <dsp:txXfrm rot="-5400000">
        <a:off x="3738164" y="141526"/>
        <a:ext cx="6241161" cy="726820"/>
      </dsp:txXfrm>
    </dsp:sp>
    <dsp:sp modelId="{EA9E026B-4357-45CF-86BF-0D0F1FA047F0}">
      <dsp:nvSpPr>
        <dsp:cNvPr id="0" name=""/>
        <dsp:cNvSpPr/>
      </dsp:nvSpPr>
      <dsp:spPr>
        <a:xfrm>
          <a:off x="68" y="1525"/>
          <a:ext cx="3738095" cy="10068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WHY student dropout?</a:t>
          </a:r>
          <a:endParaRPr lang="el-GR" sz="2800" kern="1200"/>
        </a:p>
      </dsp:txBody>
      <dsp:txXfrm>
        <a:off x="49217" y="50674"/>
        <a:ext cx="3639797" cy="908524"/>
      </dsp:txXfrm>
    </dsp:sp>
    <dsp:sp modelId="{7A2EF9DB-B99F-4A88-9D40-BF5224737848}">
      <dsp:nvSpPr>
        <dsp:cNvPr id="0" name=""/>
        <dsp:cNvSpPr/>
      </dsp:nvSpPr>
      <dsp:spPr>
        <a:xfrm rot="5400000">
          <a:off x="6702171" y="-1346457"/>
          <a:ext cx="805458" cy="581711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Is a prediction explainable</a:t>
          </a:r>
          <a:endParaRPr lang="el-GR" sz="2700" kern="1200"/>
        </a:p>
      </dsp:txBody>
      <dsp:txXfrm rot="-5400000">
        <a:off x="4196343" y="1198690"/>
        <a:ext cx="5777796" cy="726820"/>
      </dsp:txXfrm>
    </dsp:sp>
    <dsp:sp modelId="{104E144D-4CF1-42E9-9ACD-812C66FBAE08}">
      <dsp:nvSpPr>
        <dsp:cNvPr id="0" name=""/>
        <dsp:cNvSpPr/>
      </dsp:nvSpPr>
      <dsp:spPr>
        <a:xfrm>
          <a:off x="68" y="1058689"/>
          <a:ext cx="4196274" cy="10068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 could we predict it?</a:t>
          </a:r>
          <a:endParaRPr lang="el-GR" sz="2800" kern="1200" dirty="0"/>
        </a:p>
      </dsp:txBody>
      <dsp:txXfrm>
        <a:off x="49217" y="1107838"/>
        <a:ext cx="4097976" cy="908524"/>
      </dsp:txXfrm>
    </dsp:sp>
    <dsp:sp modelId="{DBD6B5DC-8F5A-4823-AC1C-412FB4FE1C15}">
      <dsp:nvSpPr>
        <dsp:cNvPr id="0" name=""/>
        <dsp:cNvSpPr/>
      </dsp:nvSpPr>
      <dsp:spPr>
        <a:xfrm>
          <a:off x="68" y="2115852"/>
          <a:ext cx="10008937" cy="10068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WHAT policies a college could apply to reduce it</a:t>
          </a:r>
          <a:endParaRPr lang="el-GR" sz="2800" kern="1200" dirty="0"/>
        </a:p>
      </dsp:txBody>
      <dsp:txXfrm>
        <a:off x="49217" y="2165001"/>
        <a:ext cx="9910639" cy="9085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762F9D-74B2-453F-87A3-D996E27CC1F9}">
      <dsp:nvSpPr>
        <dsp:cNvPr id="0" name=""/>
        <dsp:cNvSpPr/>
      </dsp:nvSpPr>
      <dsp:spPr>
        <a:xfrm rot="5400000">
          <a:off x="6203139" y="-2443968"/>
          <a:ext cx="1219170" cy="64119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Features: Age, Gender, Income, Attendance, Delays, Travel time, Scholarship, Part time job, </a:t>
          </a:r>
          <a:r>
            <a:rPr lang="en-US" sz="2000" kern="1200" dirty="0" err="1"/>
            <a:t>etc</a:t>
          </a:r>
          <a:endParaRPr lang="el-GR" sz="2000" kern="1200" dirty="0"/>
        </a:p>
      </dsp:txBody>
      <dsp:txXfrm rot="-5400000">
        <a:off x="3606737" y="211949"/>
        <a:ext cx="6352461" cy="1100140"/>
      </dsp:txXfrm>
    </dsp:sp>
    <dsp:sp modelId="{A23C5782-9C47-4E7A-B298-8124AF070375}">
      <dsp:nvSpPr>
        <dsp:cNvPr id="0" name=""/>
        <dsp:cNvSpPr/>
      </dsp:nvSpPr>
      <dsp:spPr>
        <a:xfrm>
          <a:off x="0" y="38"/>
          <a:ext cx="3606736" cy="1523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10.000 student real cases</a:t>
          </a:r>
          <a:endParaRPr lang="el-GR" sz="3000" kern="1200" dirty="0"/>
        </a:p>
      </dsp:txBody>
      <dsp:txXfrm>
        <a:off x="74394" y="74432"/>
        <a:ext cx="3457948" cy="1375175"/>
      </dsp:txXfrm>
    </dsp:sp>
    <dsp:sp modelId="{167CDB1D-4E3E-4C81-8A9E-A232D4132E45}">
      <dsp:nvSpPr>
        <dsp:cNvPr id="0" name=""/>
        <dsp:cNvSpPr/>
      </dsp:nvSpPr>
      <dsp:spPr>
        <a:xfrm>
          <a:off x="0" y="1600199"/>
          <a:ext cx="10008937" cy="1523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Source: </a:t>
          </a:r>
          <a:r>
            <a:rPr lang="en-US" sz="3000" kern="1200" dirty="0">
              <a:solidFill>
                <a:srgbClr val="00206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https://www.kaggle.com/datasets/meharshanali/student-dropout-prediction-dataset</a:t>
          </a:r>
          <a:endParaRPr lang="el-GR" sz="3000" kern="1200" dirty="0">
            <a:solidFill>
              <a:srgbClr val="002060"/>
            </a:solidFill>
          </a:endParaRPr>
        </a:p>
      </dsp:txBody>
      <dsp:txXfrm>
        <a:off x="74394" y="1674593"/>
        <a:ext cx="9860149" cy="1375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17C3F-DC5F-48D7-94B2-8893C3144C82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5FA02-2FD0-4265-9973-2D31F3DBE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101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5FA02-2FD0-4265-9973-2D31F3DBE872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264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5FA02-2FD0-4265-9973-2D31F3DBE872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54331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99634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1177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32991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5995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3686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1736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1195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0713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444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6472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16079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31264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43492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4387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28469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97607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734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481E315-8A17-40A0-808D-762C6A45A3F7}" type="datetimeFigureOut">
              <a:rPr lang="el-GR" smtClean="0"/>
              <a:t>28/2/2026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33DD18-6CF9-4B4C-88DA-3732FF919D6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4973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72E1-DC55-5197-67C3-8E4CE6FAE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Student Dropout Problem</a:t>
            </a:r>
            <a:br>
              <a:rPr lang="en-US" b="1" dirty="0"/>
            </a:br>
            <a:endParaRPr lang="el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D0255-362D-1E77-F75B-E5F11BC72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Predictable or not?</a:t>
            </a:r>
          </a:p>
        </p:txBody>
      </p:sp>
    </p:spTree>
    <p:extLst>
      <p:ext uri="{BB962C8B-B14F-4D97-AF65-F5344CB8AC3E}">
        <p14:creationId xmlns:p14="http://schemas.microsoft.com/office/powerpoint/2010/main" val="39875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D35E9-BBE1-4757-9FD2-DE5E3C58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client</a:t>
            </a:r>
            <a:endParaRPr lang="el-G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02FC79-660D-AA70-CA40-12539C8E0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512290"/>
              </p:ext>
            </p:extLst>
          </p:nvPr>
        </p:nvGraphicFramePr>
        <p:xfrm>
          <a:off x="1484310" y="1901952"/>
          <a:ext cx="10018713" cy="3889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368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DF7E-C09C-3829-61EA-BBC3331A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  <a:endParaRPr lang="el-G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BC7718-1547-9D12-F135-FF7CB8A4E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053394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12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18E9-92D3-E5DB-BCE7-19106E6C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Data</a:t>
            </a:r>
            <a:endParaRPr lang="el-G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C2122FF-218E-E35E-C425-8C4D1742D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052210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893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D665-A7D7-93A3-9CB9-738D036B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3839-DC68-DEE9-C4A5-7BD676D0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599" y="128017"/>
            <a:ext cx="10018713" cy="60839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acquaintance</a:t>
            </a:r>
            <a:endParaRPr lang="el-G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37A468-E7A4-4D25-B3C5-20F2F928D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07" y="1444272"/>
            <a:ext cx="4410617" cy="34294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51FE5D-6503-8D15-5832-A6BC88D4BC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47"/>
          <a:stretch>
            <a:fillRect/>
          </a:stretch>
        </p:blipFill>
        <p:spPr>
          <a:xfrm>
            <a:off x="6096000" y="1444272"/>
            <a:ext cx="4959096" cy="342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7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F1FE-E57B-09D7-B30B-B67F151B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325B-8497-9E9D-1BEE-2BA97BC9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599" y="128017"/>
            <a:ext cx="10018713" cy="608394"/>
          </a:xfrm>
        </p:spPr>
        <p:txBody>
          <a:bodyPr>
            <a:normAutofit fontScale="90000"/>
          </a:bodyPr>
          <a:lstStyle/>
          <a:p>
            <a:r>
              <a:rPr lang="en-US" dirty="0"/>
              <a:t>Drop outs per main features</a:t>
            </a:r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1DAC1B-E0F6-B947-BB2B-2D472165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60" y="736411"/>
            <a:ext cx="3010320" cy="2333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E37F97-E8AD-FC3A-88C5-E85856E7B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365" y="736411"/>
            <a:ext cx="4077269" cy="2819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A676D6-B15B-7BCE-99C4-3AE072665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720" y="736411"/>
            <a:ext cx="3842232" cy="2720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A1919-EFC7-03AC-74D6-6A0466B3F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9" y="3750252"/>
            <a:ext cx="3193751" cy="25008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DF8D23-9F06-A272-51A7-175306DF40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365" y="3666345"/>
            <a:ext cx="3678459" cy="280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4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EDF5-74CD-1A56-A2E8-3761A15F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48C7-1E11-C4A9-63F1-FDA7FD22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599" y="128017"/>
            <a:ext cx="10018713" cy="608394"/>
          </a:xfrm>
        </p:spPr>
        <p:txBody>
          <a:bodyPr>
            <a:normAutofit fontScale="90000"/>
          </a:bodyPr>
          <a:lstStyle/>
          <a:p>
            <a:r>
              <a:rPr lang="en-US" dirty="0"/>
              <a:t>Parental education and Drop out</a:t>
            </a:r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B5A18-A5F9-CAFF-6454-A2700E4AC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73" y="922762"/>
            <a:ext cx="5258583" cy="3569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5DDCD1-8C85-86F9-1721-7D173CD7A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40" y="922762"/>
            <a:ext cx="6043928" cy="357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4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3CC86-311E-C00C-9D4B-D3504CDC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7A06-79EF-9A81-24C1-3B024DA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599" y="128017"/>
            <a:ext cx="10018713" cy="608394"/>
          </a:xfrm>
        </p:spPr>
        <p:txBody>
          <a:bodyPr>
            <a:normAutofit fontScale="90000"/>
          </a:bodyPr>
          <a:lstStyle/>
          <a:p>
            <a:r>
              <a:rPr lang="en-US" dirty="0"/>
              <a:t>Impact of stress to Drop out</a:t>
            </a:r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8E10C-4EB2-000F-508C-2CAF5FB2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774" y="1145452"/>
            <a:ext cx="9059447" cy="509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71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DEFA-16DA-C8EE-5C49-2070681B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 outlined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318D-1C2B-0F47-DED3-38C9F230E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73936"/>
            <a:ext cx="10018713" cy="50017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Data preprocessing</a:t>
            </a:r>
          </a:p>
          <a:p>
            <a:pPr marL="0" indent="0">
              <a:buNone/>
            </a:pPr>
            <a:r>
              <a:rPr lang="en-US" dirty="0"/>
              <a:t>Data exploration</a:t>
            </a:r>
          </a:p>
          <a:p>
            <a:pPr lvl="1"/>
            <a:r>
              <a:rPr lang="en-US" dirty="0"/>
              <a:t>Data understanding</a:t>
            </a:r>
          </a:p>
          <a:p>
            <a:pPr lvl="1"/>
            <a:r>
              <a:rPr lang="en-US" dirty="0"/>
              <a:t>Imbalances checking</a:t>
            </a:r>
          </a:p>
          <a:p>
            <a:pPr marL="0" indent="0">
              <a:buNone/>
            </a:pPr>
            <a:r>
              <a:rPr lang="en-US" dirty="0"/>
              <a:t>Data modeling</a:t>
            </a:r>
          </a:p>
          <a:p>
            <a:pPr lvl="1"/>
            <a:r>
              <a:rPr lang="en-US" dirty="0"/>
              <a:t>Extensive machine learning application</a:t>
            </a:r>
          </a:p>
          <a:p>
            <a:pPr marL="0" indent="0">
              <a:buNone/>
            </a:pPr>
            <a:r>
              <a:rPr lang="en-US" dirty="0"/>
              <a:t>Outcome</a:t>
            </a:r>
          </a:p>
          <a:p>
            <a:pPr lvl="1"/>
            <a:r>
              <a:rPr lang="en-US" dirty="0"/>
              <a:t>Our “</a:t>
            </a:r>
            <a:r>
              <a:rPr lang="en-US" dirty="0" err="1">
                <a:solidFill>
                  <a:srgbClr val="0070C0"/>
                </a:solidFill>
              </a:rPr>
              <a:t>DropOutOrNot</a:t>
            </a:r>
            <a:r>
              <a:rPr lang="en-US" dirty="0">
                <a:solidFill>
                  <a:srgbClr val="0070C0"/>
                </a:solidFill>
              </a:rPr>
              <a:t>?</a:t>
            </a:r>
            <a:r>
              <a:rPr lang="en-US" dirty="0"/>
              <a:t>” model</a:t>
            </a:r>
          </a:p>
          <a:p>
            <a:pPr lvl="1"/>
            <a:r>
              <a:rPr lang="en-US" dirty="0"/>
              <a:t>Takes features of an individual student</a:t>
            </a:r>
          </a:p>
          <a:p>
            <a:pPr lvl="1"/>
            <a:r>
              <a:rPr lang="en-US" dirty="0"/>
              <a:t>Predicts probability to dropout</a:t>
            </a:r>
          </a:p>
          <a:p>
            <a:pPr lvl="2"/>
            <a:r>
              <a:rPr lang="en-US" dirty="0"/>
              <a:t>Advices how to handle</a:t>
            </a:r>
          </a:p>
        </p:txBody>
      </p:sp>
    </p:spTree>
    <p:extLst>
      <p:ext uri="{BB962C8B-B14F-4D97-AF65-F5344CB8AC3E}">
        <p14:creationId xmlns:p14="http://schemas.microsoft.com/office/powerpoint/2010/main" val="13026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FD68-49B0-FF72-46DB-AEFB5191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46888"/>
            <a:ext cx="10018713" cy="676656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operational description</a:t>
            </a:r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67675-A99F-4CA9-3A2C-1D6705589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6478" y="1095882"/>
            <a:ext cx="4607188" cy="576262"/>
          </a:xfrm>
        </p:spPr>
        <p:txBody>
          <a:bodyPr/>
          <a:lstStyle/>
          <a:p>
            <a:r>
              <a:rPr lang="en-US" sz="3200" b="1" dirty="0"/>
              <a:t>Input</a:t>
            </a:r>
            <a:r>
              <a:rPr lang="en-US" dirty="0"/>
              <a:t> features of a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8B6A-2ED7-66F7-16FC-35137553B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8610" y="1860104"/>
            <a:ext cx="4895056" cy="3809176"/>
          </a:xfrm>
        </p:spPr>
        <p:txBody>
          <a:bodyPr>
            <a:noAutofit/>
          </a:bodyPr>
          <a:lstStyle/>
          <a:p>
            <a:pPr lvl="1"/>
            <a:r>
              <a:rPr lang="en-US" sz="1200" dirty="0"/>
              <a:t>Age: (years)</a:t>
            </a:r>
          </a:p>
          <a:p>
            <a:pPr lvl="1"/>
            <a:r>
              <a:rPr lang="en-US" sz="1200" dirty="0"/>
              <a:t>Gender: (Male / Female)</a:t>
            </a:r>
          </a:p>
          <a:p>
            <a:pPr lvl="1"/>
            <a:r>
              <a:rPr lang="en-US" sz="1200" dirty="0" err="1"/>
              <a:t>Family_Income</a:t>
            </a:r>
            <a:r>
              <a:rPr lang="en-US" sz="1200" dirty="0"/>
              <a:t>: (Monthly family income)</a:t>
            </a:r>
          </a:p>
          <a:p>
            <a:pPr lvl="1"/>
            <a:r>
              <a:rPr lang="en-US" sz="1200" dirty="0" err="1"/>
              <a:t>Internet_Access</a:t>
            </a:r>
            <a:r>
              <a:rPr lang="en-US" sz="1200" dirty="0"/>
              <a:t>: (Yes / No)</a:t>
            </a:r>
          </a:p>
          <a:p>
            <a:pPr lvl="1"/>
            <a:r>
              <a:rPr lang="en-US" sz="1200" dirty="0" err="1"/>
              <a:t>Study_Hours_per_Day</a:t>
            </a:r>
            <a:r>
              <a:rPr lang="en-US" sz="1200" dirty="0"/>
              <a:t>: (Avg) </a:t>
            </a:r>
          </a:p>
          <a:p>
            <a:pPr lvl="1"/>
            <a:r>
              <a:rPr lang="en-US" sz="1200" dirty="0" err="1"/>
              <a:t>Attendance_Rate</a:t>
            </a:r>
            <a:r>
              <a:rPr lang="en-US" sz="1200" dirty="0"/>
              <a:t>: (%)</a:t>
            </a:r>
          </a:p>
          <a:p>
            <a:pPr lvl="1"/>
            <a:r>
              <a:rPr lang="en-US" sz="1200" dirty="0" err="1"/>
              <a:t>Assignment_Delay_Days</a:t>
            </a:r>
            <a:r>
              <a:rPr lang="en-US" sz="1200" dirty="0"/>
              <a:t>: (avg days)</a:t>
            </a:r>
          </a:p>
          <a:p>
            <a:pPr lvl="1"/>
            <a:r>
              <a:rPr lang="en-US" sz="1200" dirty="0" err="1"/>
              <a:t>Travel_Time_Minutes</a:t>
            </a:r>
            <a:r>
              <a:rPr lang="en-US" sz="1200" dirty="0"/>
              <a:t>: (mins Daily commute)</a:t>
            </a:r>
          </a:p>
          <a:p>
            <a:pPr lvl="1"/>
            <a:r>
              <a:rPr lang="en-US" sz="1200" dirty="0" err="1"/>
              <a:t>Part_Time_Job</a:t>
            </a:r>
            <a:r>
              <a:rPr lang="en-US" sz="1200" dirty="0"/>
              <a:t>: (Yes / No)</a:t>
            </a:r>
          </a:p>
          <a:p>
            <a:pPr lvl="1"/>
            <a:r>
              <a:rPr lang="en-US" sz="1200" dirty="0"/>
              <a:t>Scholarship: (Yes / No)</a:t>
            </a:r>
          </a:p>
          <a:p>
            <a:pPr lvl="1"/>
            <a:r>
              <a:rPr lang="en-US" sz="1200" dirty="0" err="1"/>
              <a:t>Stress_Index</a:t>
            </a:r>
            <a:r>
              <a:rPr lang="en-US" sz="1200" dirty="0"/>
              <a:t>: Self-reported (1–10)</a:t>
            </a:r>
          </a:p>
          <a:p>
            <a:pPr lvl="1"/>
            <a:r>
              <a:rPr lang="en-US" sz="1200" dirty="0"/>
              <a:t>GPA, </a:t>
            </a:r>
            <a:r>
              <a:rPr lang="en-US" sz="1200" dirty="0" err="1"/>
              <a:t>Semester_GPA</a:t>
            </a:r>
            <a:r>
              <a:rPr lang="en-US" sz="1200" dirty="0"/>
              <a:t>, CGPA: Academic performance</a:t>
            </a:r>
          </a:p>
          <a:p>
            <a:pPr lvl="1"/>
            <a:r>
              <a:rPr lang="en-US" sz="1200" dirty="0"/>
              <a:t>Semester: (Year 1–4)</a:t>
            </a:r>
          </a:p>
          <a:p>
            <a:pPr lvl="1"/>
            <a:r>
              <a:rPr lang="en-US" sz="1200" dirty="0"/>
              <a:t>Department: Science, Arts, Business, CS, Engineering</a:t>
            </a:r>
          </a:p>
          <a:p>
            <a:pPr lvl="1"/>
            <a:r>
              <a:rPr lang="en-US" sz="1200" dirty="0" err="1"/>
              <a:t>Parental_Education</a:t>
            </a:r>
            <a:r>
              <a:rPr lang="en-US" sz="1200" dirty="0"/>
              <a:t> (None, High School, Bachelor, Master, PhD</a:t>
            </a:r>
            <a:endParaRPr lang="el-GR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05C5C-8902-35B0-38E4-AD4D5A63B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0486" y="1770888"/>
            <a:ext cx="4622537" cy="576262"/>
          </a:xfrm>
        </p:spPr>
        <p:txBody>
          <a:bodyPr/>
          <a:lstStyle/>
          <a:p>
            <a:r>
              <a:rPr lang="en-US" b="1" dirty="0"/>
              <a:t>Output</a:t>
            </a:r>
            <a:r>
              <a:rPr lang="en-US" dirty="0"/>
              <a:t>: Make the prediction</a:t>
            </a:r>
            <a:endParaRPr lang="el-G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3CBE5-1122-9876-CB84-528A0DEB3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7966" y="2439225"/>
            <a:ext cx="4895056" cy="2455862"/>
          </a:xfrm>
        </p:spPr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Dropout or not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Which features matter the most?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89951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B7C6-B9D1-9D69-2B12-3232CABB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C118-E788-E338-23E4-64BDE539D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743" y="135328"/>
            <a:ext cx="10018713" cy="777240"/>
          </a:xfrm>
        </p:spPr>
        <p:txBody>
          <a:bodyPr/>
          <a:lstStyle/>
          <a:p>
            <a:r>
              <a:rPr lang="en-US" dirty="0"/>
              <a:t>Model operational description</a:t>
            </a:r>
            <a:endParaRPr lang="el-GR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EB9056-7EE8-ED6F-B876-66D33B1EA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58" y="1463040"/>
            <a:ext cx="11925583" cy="487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4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30BA-8E3D-2E4E-6BAF-97BC1F41A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498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“</a:t>
            </a:r>
            <a:r>
              <a:rPr lang="en-US" dirty="0" err="1">
                <a:solidFill>
                  <a:srgbClr val="002060"/>
                </a:solidFill>
              </a:rPr>
              <a:t>DropOutOrNot</a:t>
            </a:r>
            <a:r>
              <a:rPr lang="en-US" dirty="0">
                <a:solidFill>
                  <a:srgbClr val="002060"/>
                </a:solidFill>
              </a:rPr>
              <a:t>?</a:t>
            </a:r>
            <a:r>
              <a:rPr lang="en-US" dirty="0">
                <a:solidFill>
                  <a:srgbClr val="0070C0"/>
                </a:solidFill>
              </a:rPr>
              <a:t>”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Performance characteristics</a:t>
            </a:r>
            <a:r>
              <a:rPr lang="en-US" dirty="0"/>
              <a:t> 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D4DA-EBD3-EC39-D0FA-B898629A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74520"/>
            <a:ext cx="10018713" cy="36240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Accuracy: 74 % (Correctly predicting cases generally)</a:t>
            </a:r>
          </a:p>
          <a:p>
            <a:r>
              <a:rPr lang="en-US" dirty="0"/>
              <a:t>Recall: 74 % (How many of the </a:t>
            </a:r>
            <a:r>
              <a:rPr lang="en-US" dirty="0" err="1"/>
              <a:t>DropOuts</a:t>
            </a:r>
            <a:r>
              <a:rPr lang="en-US" dirty="0"/>
              <a:t> our tool cached)</a:t>
            </a:r>
          </a:p>
          <a:p>
            <a:r>
              <a:rPr lang="en-US" dirty="0"/>
              <a:t>Precision (</a:t>
            </a:r>
            <a:r>
              <a:rPr lang="en-US" dirty="0" err="1"/>
              <a:t>DropOut</a:t>
            </a:r>
            <a:r>
              <a:rPr lang="en-US" dirty="0"/>
              <a:t>): </a:t>
            </a:r>
            <a:r>
              <a:rPr lang="en-US" dirty="0">
                <a:solidFill>
                  <a:srgbClr val="FF0000"/>
                </a:solidFill>
              </a:rPr>
              <a:t>48 %</a:t>
            </a:r>
            <a:r>
              <a:rPr lang="en-US" dirty="0"/>
              <a:t> (Probability a </a:t>
            </a:r>
            <a:r>
              <a:rPr lang="en-US" dirty="0" err="1"/>
              <a:t>DropOut</a:t>
            </a:r>
            <a:r>
              <a:rPr lang="en-US" dirty="0"/>
              <a:t> prediction to be True)</a:t>
            </a:r>
          </a:p>
          <a:p>
            <a:r>
              <a:rPr lang="en-US" dirty="0"/>
              <a:t>Precision (Retain) : 90% (Probability a Retain prediction to be True)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Main decision drivers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CGPA (Cumulative Grade Point Average) (negatively)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Stress Index (positively)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Attendance rate (negatively)</a:t>
            </a:r>
          </a:p>
        </p:txBody>
      </p:sp>
    </p:spTree>
    <p:extLst>
      <p:ext uri="{BB962C8B-B14F-4D97-AF65-F5344CB8AC3E}">
        <p14:creationId xmlns:p14="http://schemas.microsoft.com/office/powerpoint/2010/main" val="2348624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B798-03E4-B4B2-88AA-12C69E60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Pilot the product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6D9A5-137F-0068-57F2-CDECC481E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Pick one department</a:t>
            </a:r>
          </a:p>
          <a:p>
            <a:pPr lvl="1"/>
            <a:r>
              <a:rPr lang="en-US" dirty="0"/>
              <a:t>i.e. Computer Science (CS)</a:t>
            </a:r>
          </a:p>
          <a:p>
            <a:r>
              <a:rPr lang="en-US" dirty="0"/>
              <a:t>Apply the “</a:t>
            </a:r>
            <a:r>
              <a:rPr lang="en-US" dirty="0" err="1"/>
              <a:t>DropOutOrNot</a:t>
            </a:r>
            <a:r>
              <a:rPr lang="en-US" dirty="0"/>
              <a:t>?” to every student</a:t>
            </a:r>
          </a:p>
          <a:p>
            <a:r>
              <a:rPr lang="en-US" dirty="0"/>
              <a:t>Evaluate predictions after one year</a:t>
            </a:r>
          </a:p>
          <a:p>
            <a:pPr lvl="1"/>
            <a:r>
              <a:rPr lang="en-US" dirty="0"/>
              <a:t>Take decision for keeping the engine or </a:t>
            </a:r>
          </a:p>
          <a:p>
            <a:pPr lvl="1"/>
            <a:r>
              <a:rPr lang="en-US" dirty="0"/>
              <a:t>Order a stronger engine</a:t>
            </a:r>
          </a:p>
          <a:p>
            <a:pPr lvl="2"/>
            <a:r>
              <a:rPr lang="en-US" dirty="0"/>
              <a:t>More data</a:t>
            </a:r>
          </a:p>
          <a:p>
            <a:pPr lvl="2"/>
            <a:r>
              <a:rPr lang="en-US" dirty="0"/>
              <a:t>Stronger models (Neural Networks)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551526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0B73C-095F-8D1F-BD07-B13BD71B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2313433"/>
            <a:ext cx="10018709" cy="1033272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Thank You</a:t>
            </a:r>
            <a:endParaRPr lang="el-GR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96475-F13C-6CCC-3F24-AF84EEA48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4279392"/>
            <a:ext cx="10018710" cy="2139695"/>
          </a:xfrm>
        </p:spPr>
        <p:txBody>
          <a:bodyPr>
            <a:normAutofit/>
          </a:bodyPr>
          <a:lstStyle/>
          <a:p>
            <a:r>
              <a:rPr lang="en-US" sz="2800" dirty="0"/>
              <a:t>Katerina Lama</a:t>
            </a:r>
          </a:p>
          <a:p>
            <a:r>
              <a:rPr lang="en-US" sz="2800" dirty="0"/>
              <a:t>Manos </a:t>
            </a:r>
            <a:r>
              <a:rPr lang="en-US" sz="2800" dirty="0" err="1"/>
              <a:t>Polydoros</a:t>
            </a:r>
            <a:endParaRPr lang="en-US" sz="2800" dirty="0"/>
          </a:p>
          <a:p>
            <a:r>
              <a:rPr lang="en-US" sz="2800" dirty="0"/>
              <a:t>Themis </a:t>
            </a:r>
            <a:r>
              <a:rPr lang="en-US" sz="2800" dirty="0" err="1"/>
              <a:t>Mamatsopoulos</a:t>
            </a:r>
            <a:endParaRPr lang="el-GR" sz="2800" dirty="0"/>
          </a:p>
        </p:txBody>
      </p:sp>
    </p:spTree>
    <p:extLst>
      <p:ext uri="{BB962C8B-B14F-4D97-AF65-F5344CB8AC3E}">
        <p14:creationId xmlns:p14="http://schemas.microsoft.com/office/powerpoint/2010/main" val="3700945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283</TotalTime>
  <Words>476</Words>
  <Application>Microsoft Office PowerPoint</Application>
  <PresentationFormat>Widescreen</PresentationFormat>
  <Paragraphs>84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Corbel</vt:lpstr>
      <vt:lpstr>Parallax</vt:lpstr>
      <vt:lpstr>Student Dropout Problem </vt:lpstr>
      <vt:lpstr>Our client</vt:lpstr>
      <vt:lpstr>The problem</vt:lpstr>
      <vt:lpstr>Our Data</vt:lpstr>
      <vt:lpstr>Data acquaintance</vt:lpstr>
      <vt:lpstr>Drop outs per main features</vt:lpstr>
      <vt:lpstr>Parental education and Drop out</vt:lpstr>
      <vt:lpstr>Impact of stress to Drop out</vt:lpstr>
      <vt:lpstr>Our work outlined</vt:lpstr>
      <vt:lpstr>Model operational description</vt:lpstr>
      <vt:lpstr>Model operational description</vt:lpstr>
      <vt:lpstr>“DropOutOrNot?” Performance characteristics </vt:lpstr>
      <vt:lpstr>Next step: Pilot the product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Themis</dc:creator>
  <cp:lastModifiedBy>Themis</cp:lastModifiedBy>
  <cp:revision>4</cp:revision>
  <dcterms:created xsi:type="dcterms:W3CDTF">2026-02-28T09:04:14Z</dcterms:created>
  <dcterms:modified xsi:type="dcterms:W3CDTF">2026-02-28T13:47:51Z</dcterms:modified>
</cp:coreProperties>
</file>